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7"/>
  </p:normalViewPr>
  <p:slideViewPr>
    <p:cSldViewPr snapToGrid="0" snapToObjects="1">
      <p:cViewPr varScale="1">
        <p:scale>
          <a:sx n="110" d="100"/>
          <a:sy n="110" d="100"/>
        </p:scale>
        <p:origin x="76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33333"/>
                </a:solidFill>
                <a:latin typeface="Helvetica Neue"/>
              </a:rPr>
              <a:t>Pipeline v1 is stuck at AUPREC 0.16 — the model memorizes, it doesn't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548640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55648"/>
            <a:ext cx="45720" cy="8686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7739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55E00"/>
                </a:solidFill>
                <a:latin typeface="Helvetica Neue"/>
              </a:rPr>
              <a:t>1. 62M parameters for ~400 positives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Helvetica Neue"/>
              </a:rPr>
              <a:t>155,000 params per positive sample. The model memorizes training subjects instead of learning WMH features. Rule of thumb: &lt;1,000 params/positive.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07208"/>
            <a:ext cx="45720" cy="8686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8254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55E00"/>
                </a:solidFill>
                <a:latin typeface="Helvetica Neue"/>
              </a:rPr>
              <a:t>2. APLoss without CE warmup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54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Helvetica Neue"/>
              </a:rPr>
              <a:t>APLoss needs a reasonable starting score distribution. Without warmup, the surrogate loss has nothing to rank — gradients are near-random.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858768"/>
            <a:ext cx="45720" cy="8686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38770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55E00"/>
                </a:solidFill>
                <a:latin typeface="Helvetica Neue"/>
              </a:rPr>
              <a:t>3. LR scheduler 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Helvetica Neue"/>
              </a:rPr>
              <a:t>Cosine annealing stepped per batch but T_max set in epochs. LR collapsed to zero after a few batches instead of decaying over epochs.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910327"/>
            <a:ext cx="45720" cy="8686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492861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55E00"/>
                </a:solidFill>
                <a:latin typeface="Helvetica Neue"/>
              </a:rPr>
              <a:t>4. CT abdominal SSL pretraining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257799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Helvetica Neue"/>
              </a:rPr>
              <a:t>MONAI's Swin UNETR weights come from CT abdominal scans. The domain gap to pediatric brain MRI is enormous — effectively random init.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846320" cy="333746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22960" y="6035040"/>
            <a:ext cx="10543032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6080760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55E00"/>
                </a:solidFill>
                <a:latin typeface="Helvetica Neue"/>
              </a:rPr>
              <a:t>Result: val AUPREC = 0.16 — the model produces near-random rankings on held-out subjects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Helvetica Neue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33333"/>
                </a:solidFill>
                <a:latin typeface="Helvetica Neue"/>
              </a:rPr>
              <a:t>v2 addresses every diagnosed failure mode with evidence-based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548640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19072"/>
            <a:ext cx="10543032" cy="347472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7647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56432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v1 (before)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Helvetica Neue"/>
              </a:rPr>
              <a:t>v2 (after)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1632" y="1764792"/>
            <a:ext cx="667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2066544"/>
            <a:ext cx="10543032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1214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121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Swin UNETR  62M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2" y="21214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ResNet-10  14.5M params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71632" y="2121408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11x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450592"/>
            <a:ext cx="10543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25054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Positives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5054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~400 (1 CSV, score &gt;=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50545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1,040 (2 CSV, WMA match)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2505456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2.6x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2834640"/>
            <a:ext cx="10543032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28895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Input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28895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2ch (T1 + T2)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88950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3ch (T1 + T2 + T2/T1 ratio)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218688"/>
            <a:ext cx="10543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2735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Loss warmup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32735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None — APLoss from epoch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327355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15 ep BCE+Focal, then APLoss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602736"/>
            <a:ext cx="10543032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3657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LR 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6432" y="36576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Cosine/batch (bugged)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365760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Cosine/epoch (fixed)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986784"/>
            <a:ext cx="10543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96112" y="404164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LR unfreezing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56432" y="4041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Uniform LR/10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4032" y="40416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Layer-wise decay (0.75/layer)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" y="4370832"/>
            <a:ext cx="10543032" cy="38404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44256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44256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14032" y="4425696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Yes (decay 0.9995)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754880"/>
            <a:ext cx="1054303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" y="480974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Helvetica Neue"/>
              </a:rPr>
              <a:t>Grad accum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432" y="48097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No (bs=4)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14032" y="4809744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Yes (effective bs=16)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71632" y="4809744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2B2"/>
                </a:solidFill>
                <a:latin typeface="Helvetica Neue"/>
              </a:rPr>
              <a:t>4x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798" y="5193792"/>
            <a:ext cx="6052034" cy="16480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Helvetica Neue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105430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333333"/>
                </a:solidFill>
                <a:latin typeface="Helvetica Neue"/>
              </a:rPr>
              <a:t>Realistic target: AUPREC 0.35–0.55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548640" cy="41148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19072"/>
            <a:ext cx="6400800" cy="27637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89520" y="1719072"/>
            <a:ext cx="411480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1719072"/>
            <a:ext cx="41148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26680" y="18288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2B2"/>
                </a:solidFill>
                <a:latin typeface="Helvetica Neue"/>
              </a:rPr>
              <a:t>AUPREC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402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  <a:latin typeface="Helvetica Neue"/>
              </a:rPr>
              <a:t>0.16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22402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AA"/>
                </a:solidFill>
                <a:latin typeface="Helvetica Neue"/>
              </a:rPr>
              <a:t>v1 (current)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2B2"/>
                </a:solidFill>
                <a:latin typeface="Helvetica Neue"/>
              </a:rPr>
              <a:t>0.35–0.55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4688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2B2"/>
                </a:solidFill>
                <a:latin typeface="Helvetica Neue"/>
              </a:rPr>
              <a:t>v2 realistic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Helvetica Neue"/>
              </a:rPr>
              <a:t>&gt; 0.55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6974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66666"/>
                </a:solidFill>
                <a:latin typeface="Helvetica Neue"/>
              </a:rPr>
              <a:t>publishable surprise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55E00"/>
                </a:solidFill>
                <a:latin typeface="Helvetica Neue"/>
              </a:rPr>
              <a:t>&gt; 0.65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9260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5E00"/>
                </a:solidFill>
                <a:latin typeface="Helvetica Neue"/>
              </a:rPr>
              <a:t>suspect data leakage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3383280"/>
            <a:ext cx="411480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89520" y="3383280"/>
            <a:ext cx="45720" cy="16002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54112" y="345643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55E00"/>
                </a:solidFill>
                <a:latin typeface="Helvetica Neue"/>
              </a:rPr>
              <a:t>Early Warning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3794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 Neue"/>
              </a:rPr>
              <a:t>Stage 1 ep 15 AUPREC &lt; 0.18 -&gt; stop, debug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41422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 Neue"/>
              </a:rPr>
              <a:t>Train AP &gt; 0.40, Val &lt; 0.20 -&gt; overfitting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4112" y="44897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Helvetica Neue"/>
              </a:rPr>
              <a:t>Per-site variance &gt; 0.15 -&gt; site shortcut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394960"/>
            <a:ext cx="10543032" cy="105156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468112"/>
            <a:ext cx="10177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CCEE"/>
                </a:solidFill>
                <a:latin typeface="Helvetica Neue"/>
              </a:rPr>
              <a:t>KEY INSIGHT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Helvetica Neue"/>
              </a:rPr>
              <a:t>The single biggest lever is the model size: 14.5M params on 1,040 positives (14k params/pos) vs 62M on 400 (155k params/pos). Combined with CE warmup and the LR fix, this addresses the three root causes of v1's failure.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AAAAA"/>
                </a:solidFill>
                <a:latin typeface="Helvetica Neue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402</Words>
  <Application>Microsoft Macintosh PowerPoint</Application>
  <PresentationFormat>Custom</PresentationFormat>
  <Paragraphs>59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Helvetica Neue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Louan</cp:lastModifiedBy>
  <cp:revision>2</cp:revision>
  <dcterms:created xsi:type="dcterms:W3CDTF">2013-01-27T09:14:16Z</dcterms:created>
  <dcterms:modified xsi:type="dcterms:W3CDTF">2026-05-10T22:53:14Z</dcterms:modified>
  <cp:category/>
</cp:coreProperties>
</file>